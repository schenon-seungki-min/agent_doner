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94660"/>
  </p:normalViewPr>
  <p:slideViewPr>
    <p:cSldViewPr snapToGrid="0">
      <p:cViewPr>
        <p:scale>
          <a:sx n="100" d="100"/>
          <a:sy n="100" d="100"/>
        </p:scale>
        <p:origin x="4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54C7B-91B4-486A-88E4-A9CE1E441810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6A23-0FB3-4CE9-B674-418B05AFD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17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6A23-0FB3-4CE9-B674-418B05AFDE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75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AE66C-594E-26F3-172A-E80A8095F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81B915-A06A-0DA8-376E-02CC6F886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8C1F6-CCAA-C576-2C04-8181253A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292A3-733F-45A8-5FBA-42DBAE82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7DFEC-5636-2E8C-D61F-7D51EFDE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C9701-3D53-690C-9188-909203779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D00587-821E-CE1A-907F-A0A779B45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FEA68-EF0C-603D-7CDA-4B22C40AB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F49E3-9FA5-952C-256A-4B4A49FB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413550-252A-93D6-864F-CD7B5DD5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5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9FDF5-16FC-5B9B-E325-118B351A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7395D-0134-15B2-0E14-EB148539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BED77-35D2-034B-7CA0-2F9779C2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07C17-6B49-B6CE-39E7-D6BAA146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C33B8-CE03-96C2-9582-E71D3E9F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5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D454A-A60F-FF8D-2827-17A373FC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8E6DC-8B13-2B22-4636-C9CAEFE26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3F8D74-D830-9838-2B3F-A10C52A8D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6E1F4C-B376-FF1F-A18C-135EC031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210E72-C8E4-6C08-C58B-C3D1C31F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93AF5C-D245-F8B2-E000-22FE0D1E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9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21AFD-A1E8-0E6A-A190-B95AF51F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9D654-C3C2-5A74-DE46-CA2D46591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31BAA-72AE-36D2-0FDC-EF19D8C32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0A9A1C-6E66-392B-477E-D7004137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DC4C3B-ED63-A42B-B42B-CC214EB42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2E2871-934B-E828-C7A1-BCF795A3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1C6917-0409-018C-85F3-AB33C110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E16E65-CD17-684C-BD1E-D875472D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9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14622-8B90-B443-209B-600A7FED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5248A8-A83B-CCA1-06B9-FE1DDC16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4D1CEA-EE94-C1B1-5B0B-101FAA19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592175-E82F-F083-795F-4A4B62B4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60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5400A8-D94F-DCC5-6344-A1036F51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B24AA7-F2D2-4E66-9492-99C0C75A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7CD160-3FA3-9875-744E-797B78FE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34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B85A4-20C8-0279-F27E-39545739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21858-AC12-58C1-1CF6-CDBE1396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329B59-D979-3D86-DEC1-DD66753BF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DF3534-B768-F4D4-85F5-5D72164C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2C34A6-C87C-4C98-1543-2BDFB058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E09DF9-951B-0F13-336C-97654EBD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35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69A81-BADB-EEF2-F5E0-1812F5C0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0FECA3-9043-8799-0D32-473A77B6A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4D542B-A073-98B4-8CFF-CFE3EB8B8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86DFB-8EFD-7C9F-5CFE-8D8C84FB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B97FB-FA63-B53D-C7BF-EBD779B9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0CADD4-DA3C-8759-1550-E90D23B6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2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EA3A8-2F9A-253E-B857-7F8BE92B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D859D6-697A-B24B-35C1-9F791B92F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8788B-2B7B-9BA2-271E-3648B6B8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4B0DE-23F7-2F60-5562-604DD187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8255E-0598-A0EE-EA41-28FB2986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3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AA0702-A81E-8BCF-E0F3-9F62C0DA8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4A533-8260-95C9-4669-7316105EB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247451-7557-64EA-DF0D-7DA54FBA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E6E4B-FA21-25EE-2009-4FDA5A06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62C1F-33F8-418D-6F6F-A3EB7BF4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1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278F0C-A927-BE7F-B106-87FF7B155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D4D9D-7633-E419-45BF-E4DD917E3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5C2EA-EB55-CCF4-A95D-9CB80F85F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546C5-C34F-4163-8823-589E687CCC8B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5F9028-CBC5-FECF-2CBC-F1FDD08DC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2E9B22-C156-5F77-A02B-C11F41655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69133-7BEB-4DCF-948F-06BA160234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73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020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A55061E1-3E53-67F8-6046-7A59BCE6E36C}"/>
              </a:ext>
            </a:extLst>
          </p:cNvPr>
          <p:cNvCxnSpPr>
            <a:cxnSpLocks/>
          </p:cNvCxnSpPr>
          <p:nvPr/>
        </p:nvCxnSpPr>
        <p:spPr>
          <a:xfrm flipV="1">
            <a:off x="1046473" y="2799538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2318FF7-1EBE-0C70-E6E1-F77A6C6FCF65}"/>
              </a:ext>
            </a:extLst>
          </p:cNvPr>
          <p:cNvCxnSpPr>
            <a:cxnSpLocks/>
            <a:stCxn id="135" idx="0"/>
            <a:endCxn id="68" idx="2"/>
          </p:cNvCxnSpPr>
          <p:nvPr/>
        </p:nvCxnSpPr>
        <p:spPr>
          <a:xfrm flipV="1">
            <a:off x="6095994" y="2057489"/>
            <a:ext cx="4" cy="4477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C93C58-1E97-D484-B41C-DE10AB75917C}"/>
              </a:ext>
            </a:extLst>
          </p:cNvPr>
          <p:cNvSpPr/>
          <p:nvPr/>
        </p:nvSpPr>
        <p:spPr>
          <a:xfrm>
            <a:off x="5661974" y="3893933"/>
            <a:ext cx="868043" cy="34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EAP</a:t>
            </a:r>
            <a:endParaRPr lang="ko-KR" altLang="en-US" sz="1050" b="1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A7888C-6065-BE39-5E2C-3DCA2175D381}"/>
              </a:ext>
            </a:extLst>
          </p:cNvPr>
          <p:cNvSpPr/>
          <p:nvPr/>
        </p:nvSpPr>
        <p:spPr>
          <a:xfrm>
            <a:off x="5661975" y="2936007"/>
            <a:ext cx="868043" cy="34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>
                <a:latin typeface="+mn-ea"/>
              </a:rPr>
              <a:t>비대면진료</a:t>
            </a:r>
            <a:endParaRPr lang="ko-KR" altLang="en-US" sz="1050" b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D61B5F-C179-9F73-891F-42D1292141DB}"/>
              </a:ext>
            </a:extLst>
          </p:cNvPr>
          <p:cNvSpPr/>
          <p:nvPr/>
        </p:nvSpPr>
        <p:spPr>
          <a:xfrm>
            <a:off x="4648802" y="569186"/>
            <a:ext cx="2885495" cy="43745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/>
              <a:t>사업실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KPI : </a:t>
            </a:r>
            <a:r>
              <a:rPr lang="ko-KR" altLang="en-US" sz="1100" b="1" dirty="0"/>
              <a:t>유통망 독점</a:t>
            </a:r>
            <a:br>
              <a:rPr lang="en-US" altLang="ko-KR" sz="1100" b="1" dirty="0"/>
            </a:br>
            <a:r>
              <a:rPr lang="en-US" altLang="ko-KR" sz="1100" b="1" dirty="0"/>
              <a:t>Wedge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Product </a:t>
            </a:r>
            <a:r>
              <a:rPr lang="ko-KR" altLang="en-US" sz="1100" b="1" dirty="0"/>
              <a:t>로 </a:t>
            </a:r>
            <a:r>
              <a:rPr lang="en-US" altLang="ko-KR" sz="1100" b="1" dirty="0"/>
              <a:t>Ecosystem </a:t>
            </a:r>
            <a:r>
              <a:rPr lang="ko-KR" altLang="en-US" sz="1100" b="1" dirty="0"/>
              <a:t>구축</a:t>
            </a:r>
            <a:endParaRPr lang="en-US" altLang="ko-KR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70B691-CE7F-650C-D971-308D06A70DC4}"/>
              </a:ext>
            </a:extLst>
          </p:cNvPr>
          <p:cNvSpPr txBox="1"/>
          <p:nvPr/>
        </p:nvSpPr>
        <p:spPr>
          <a:xfrm>
            <a:off x="10444479" y="222392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Infrastructure-first</a:t>
            </a:r>
            <a:br>
              <a:rPr lang="en-US" altLang="ko-KR" sz="1200" b="1" dirty="0"/>
            </a:br>
            <a:r>
              <a:rPr lang="en-US" altLang="ko-KR" sz="1200" b="1" dirty="0"/>
              <a:t>(</a:t>
            </a:r>
            <a:r>
              <a:rPr lang="ko-KR" altLang="en-US" sz="1200" b="1" dirty="0"/>
              <a:t>인프라 중심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210C1-A16B-2913-6314-6BF018F2D064}"/>
              </a:ext>
            </a:extLst>
          </p:cNvPr>
          <p:cNvSpPr txBox="1"/>
          <p:nvPr/>
        </p:nvSpPr>
        <p:spPr>
          <a:xfrm>
            <a:off x="183764" y="222956"/>
            <a:ext cx="139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Product-out</a:t>
            </a:r>
            <a:br>
              <a:rPr lang="en-US" altLang="ko-KR" sz="1200" b="1" dirty="0"/>
            </a:br>
            <a:r>
              <a:rPr lang="en-US" altLang="ko-KR" sz="1200" b="1" dirty="0"/>
              <a:t>(</a:t>
            </a:r>
            <a:r>
              <a:rPr lang="ko-KR" altLang="en-US" sz="1200" b="1" dirty="0" err="1"/>
              <a:t>트랙션</a:t>
            </a:r>
            <a:r>
              <a:rPr lang="ko-KR" altLang="en-US" sz="1200" b="1" dirty="0"/>
              <a:t> 중심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9367EF5-2428-2D53-FFEC-2D9354CBF36C}"/>
              </a:ext>
            </a:extLst>
          </p:cNvPr>
          <p:cNvCxnSpPr/>
          <p:nvPr/>
        </p:nvCxnSpPr>
        <p:spPr>
          <a:xfrm>
            <a:off x="1733973" y="452635"/>
            <a:ext cx="85953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 descr="DAEWOONG&#10;&#10;AI 생성 콘텐츠는 정확하지 않을 수 있습니다.">
            <a:extLst>
              <a:ext uri="{FF2B5EF4-FFF2-40B4-BE49-F238E27FC236}">
                <a16:creationId xmlns:a16="http://schemas.microsoft.com/office/drawing/2014/main" id="{FB819EE9-F015-078A-CFEA-C2768863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49" y="706427"/>
            <a:ext cx="1140920" cy="248425"/>
          </a:xfrm>
          <a:prstGeom prst="rect">
            <a:avLst/>
          </a:prstGeom>
        </p:spPr>
      </p:pic>
      <p:pic>
        <p:nvPicPr>
          <p:cNvPr id="33" name="그림 32" descr="The image shows a logo with a vibrant green, blue, and red multicolored star design against a plain white background.&#10;&#10;AI 생성 콘텐츠는 정확하지 않을 수 있습니다.">
            <a:extLst>
              <a:ext uri="{FF2B5EF4-FFF2-40B4-BE49-F238E27FC236}">
                <a16:creationId xmlns:a16="http://schemas.microsoft.com/office/drawing/2014/main" id="{F6F12000-E1BE-216A-DBE6-604D430FA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221" y="709175"/>
            <a:ext cx="496579" cy="245676"/>
          </a:xfrm>
          <a:prstGeom prst="rect">
            <a:avLst/>
          </a:prstGeom>
        </p:spPr>
      </p:pic>
      <p:pic>
        <p:nvPicPr>
          <p:cNvPr id="37" name="그림 36" descr="HAN DOK&#10;&#10;AI 생성 콘텐츠는 정확하지 않을 수 있습니다.">
            <a:extLst>
              <a:ext uri="{FF2B5EF4-FFF2-40B4-BE49-F238E27FC236}">
                <a16:creationId xmlns:a16="http://schemas.microsoft.com/office/drawing/2014/main" id="{2AA35EAA-CB01-D7F9-095F-692C152B12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56"/>
          <a:stretch>
            <a:fillRect/>
          </a:stretch>
        </p:blipFill>
        <p:spPr>
          <a:xfrm>
            <a:off x="5661972" y="105117"/>
            <a:ext cx="859157" cy="464191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B54EF27F-7371-2A8D-050A-713BC1720AB2}"/>
              </a:ext>
            </a:extLst>
          </p:cNvPr>
          <p:cNvSpPr/>
          <p:nvPr/>
        </p:nvSpPr>
        <p:spPr>
          <a:xfrm>
            <a:off x="5661974" y="3414970"/>
            <a:ext cx="868043" cy="34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latin typeface="+mn-ea"/>
              </a:rPr>
              <a:t>건강검진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517AFC-3A04-C21C-CC9F-EDED86F96665}"/>
              </a:ext>
            </a:extLst>
          </p:cNvPr>
          <p:cNvSpPr/>
          <p:nvPr/>
        </p:nvSpPr>
        <p:spPr>
          <a:xfrm>
            <a:off x="5661975" y="2457044"/>
            <a:ext cx="868043" cy="34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EMR</a:t>
            </a:r>
            <a:endParaRPr lang="ko-KR" altLang="en-US" sz="1050" b="1" dirty="0"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A7797FC-CE46-62E4-7834-366271606631}"/>
              </a:ext>
            </a:extLst>
          </p:cNvPr>
          <p:cNvSpPr/>
          <p:nvPr/>
        </p:nvSpPr>
        <p:spPr>
          <a:xfrm>
            <a:off x="5661972" y="4839744"/>
            <a:ext cx="868043" cy="3494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CSO platform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2278E5B-68CB-3D58-BB5F-D722076DC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299" y="3077758"/>
            <a:ext cx="588317" cy="194724"/>
          </a:xfrm>
          <a:prstGeom prst="rect">
            <a:avLst/>
          </a:prstGeom>
        </p:spPr>
      </p:pic>
      <p:pic>
        <p:nvPicPr>
          <p:cNvPr id="44" name="그림 43" descr="Dog&#10;&#10;AI 생성 콘텐츠는 정확하지 않을 수 있습니다.">
            <a:extLst>
              <a:ext uri="{FF2B5EF4-FFF2-40B4-BE49-F238E27FC236}">
                <a16:creationId xmlns:a16="http://schemas.microsoft.com/office/drawing/2014/main" id="{C44F9C65-5AF9-8DC2-0633-778591B56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530" y="2926213"/>
            <a:ext cx="588317" cy="164475"/>
          </a:xfrm>
          <a:prstGeom prst="rect">
            <a:avLst/>
          </a:prstGeom>
        </p:spPr>
      </p:pic>
      <p:pic>
        <p:nvPicPr>
          <p:cNvPr id="46" name="그림 45" descr="The image shows a clear, black silhouette of a pen, specifically an Otol Scribe, which is a stylus used for touchscreen devices.&#10;&#10;AI 생성 콘텐츠는 정확하지 않을 수 있습니다.">
            <a:extLst>
              <a:ext uri="{FF2B5EF4-FFF2-40B4-BE49-F238E27FC236}">
                <a16:creationId xmlns:a16="http://schemas.microsoft.com/office/drawing/2014/main" id="{E95B60F1-3FAA-E7C1-5AB5-557B7DDC48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6847" y="3493112"/>
            <a:ext cx="699616" cy="127353"/>
          </a:xfrm>
          <a:prstGeom prst="rect">
            <a:avLst/>
          </a:prstGeom>
        </p:spPr>
      </p:pic>
      <p:pic>
        <p:nvPicPr>
          <p:cNvPr id="48" name="그림 47" descr="TESSER.&#10;&#10;AI 생성 콘텐츠는 정확하지 않을 수 있습니다.">
            <a:extLst>
              <a:ext uri="{FF2B5EF4-FFF2-40B4-BE49-F238E27FC236}">
                <a16:creationId xmlns:a16="http://schemas.microsoft.com/office/drawing/2014/main" id="{E99AA5C0-7FEA-C185-312F-60C21A655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3831" y="3488999"/>
            <a:ext cx="563842" cy="135580"/>
          </a:xfrm>
          <a:prstGeom prst="rect">
            <a:avLst/>
          </a:prstGeom>
        </p:spPr>
      </p:pic>
      <p:pic>
        <p:nvPicPr>
          <p:cNvPr id="50" name="그림 49" descr="ATOMERICE&#10;&#10;AI 생성 콘텐츠는 정확하지 않을 수 있습니다.">
            <a:extLst>
              <a:ext uri="{FF2B5EF4-FFF2-40B4-BE49-F238E27FC236}">
                <a16:creationId xmlns:a16="http://schemas.microsoft.com/office/drawing/2014/main" id="{A17F2EE4-A0F0-1543-B094-72291B0A6F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8530" y="3913965"/>
            <a:ext cx="793631" cy="127767"/>
          </a:xfrm>
          <a:prstGeom prst="rect">
            <a:avLst/>
          </a:prstGeom>
        </p:spPr>
      </p:pic>
      <p:pic>
        <p:nvPicPr>
          <p:cNvPr id="52" name="그림 51" descr="MiNDCAFE.&#10;&#10;AI 생성 콘텐츠는 정확하지 않을 수 있습니다.">
            <a:extLst>
              <a:ext uri="{FF2B5EF4-FFF2-40B4-BE49-F238E27FC236}">
                <a16:creationId xmlns:a16="http://schemas.microsoft.com/office/drawing/2014/main" id="{B2F90262-DF6E-C125-B39F-79F25803DA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7486" y="3916673"/>
            <a:ext cx="699616" cy="122349"/>
          </a:xfrm>
          <a:prstGeom prst="rect">
            <a:avLst/>
          </a:prstGeom>
        </p:spPr>
      </p:pic>
      <p:pic>
        <p:nvPicPr>
          <p:cNvPr id="54" name="그림 53" descr="Clify EAP is a logo featuring a simple, smiling face.&#10;&#10;AI 생성 콘텐츠는 정확하지 않을 수 있습니다.">
            <a:extLst>
              <a:ext uri="{FF2B5EF4-FFF2-40B4-BE49-F238E27FC236}">
                <a16:creationId xmlns:a16="http://schemas.microsoft.com/office/drawing/2014/main" id="{5E986FA7-6C41-B254-6274-EF0ECE1029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3933" y="4054262"/>
            <a:ext cx="456221" cy="189076"/>
          </a:xfrm>
          <a:prstGeom prst="rect">
            <a:avLst/>
          </a:prstGeom>
        </p:spPr>
      </p:pic>
      <p:pic>
        <p:nvPicPr>
          <p:cNvPr id="56" name="그림 55" descr="MediLink&#10;&#10;AI 생성 콘텐츠는 정확하지 않을 수 있습니다.">
            <a:extLst>
              <a:ext uri="{FF2B5EF4-FFF2-40B4-BE49-F238E27FC236}">
                <a16:creationId xmlns:a16="http://schemas.microsoft.com/office/drawing/2014/main" id="{4F529DCC-C96E-3BA5-D7C3-647EB2D188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5446" y="4881594"/>
            <a:ext cx="624523" cy="189076"/>
          </a:xfrm>
          <a:prstGeom prst="rect">
            <a:avLst/>
          </a:prstGeom>
        </p:spPr>
      </p:pic>
      <p:pic>
        <p:nvPicPr>
          <p:cNvPr id="58" name="그림 57" descr="The image depicts the logo of Truedoc, featuring a vibrant purple background and the company's name prominently displayed.&#10;&#10;AI 생성 콘텐츠는 정확하지 않을 수 있습니다.">
            <a:extLst>
              <a:ext uri="{FF2B5EF4-FFF2-40B4-BE49-F238E27FC236}">
                <a16:creationId xmlns:a16="http://schemas.microsoft.com/office/drawing/2014/main" id="{97A4BA4F-9FA1-1DCF-3924-7E4BAF42D0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26665" y="2462804"/>
            <a:ext cx="410629" cy="127456"/>
          </a:xfrm>
          <a:prstGeom prst="rect">
            <a:avLst/>
          </a:prstGeom>
        </p:spPr>
      </p:pic>
      <p:pic>
        <p:nvPicPr>
          <p:cNvPr id="60" name="그림 59" descr="HD Junction&#10;&#10;AI 생성 콘텐츠는 정확하지 않을 수 있습니다.">
            <a:extLst>
              <a:ext uri="{FF2B5EF4-FFF2-40B4-BE49-F238E27FC236}">
                <a16:creationId xmlns:a16="http://schemas.microsoft.com/office/drawing/2014/main" id="{900FB5CB-D235-DF0C-197F-E0A6950E64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8389" y="2451511"/>
            <a:ext cx="712496" cy="171885"/>
          </a:xfrm>
          <a:prstGeom prst="rect">
            <a:avLst/>
          </a:prstGeom>
        </p:spPr>
      </p:pic>
      <p:pic>
        <p:nvPicPr>
          <p:cNvPr id="62" name="그림 61" descr="weav-r&#10;&#10;AI 생성 콘텐츠는 정확하지 않을 수 있습니다.">
            <a:extLst>
              <a:ext uri="{FF2B5EF4-FFF2-40B4-BE49-F238E27FC236}">
                <a16:creationId xmlns:a16="http://schemas.microsoft.com/office/drawing/2014/main" id="{835F9402-AAE4-D452-24B0-24A550ED6C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0980" y="2659878"/>
            <a:ext cx="576693" cy="128494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17CD9E-E3D7-9C2D-D5BA-1F20F8096723}"/>
              </a:ext>
            </a:extLst>
          </p:cNvPr>
          <p:cNvSpPr/>
          <p:nvPr/>
        </p:nvSpPr>
        <p:spPr>
          <a:xfrm>
            <a:off x="5661973" y="4370013"/>
            <a:ext cx="868043" cy="3494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AICC</a:t>
            </a:r>
            <a:endParaRPr lang="ko-KR" altLang="en-US" sz="1050" b="1" dirty="0">
              <a:latin typeface="+mn-ea"/>
            </a:endParaRPr>
          </a:p>
        </p:txBody>
      </p:sp>
      <p:pic>
        <p:nvPicPr>
          <p:cNvPr id="65" name="그림 64" descr="ai&#10;&#10;AI 생성 콘텐츠는 정확하지 않을 수 있습니다.">
            <a:extLst>
              <a:ext uri="{FF2B5EF4-FFF2-40B4-BE49-F238E27FC236}">
                <a16:creationId xmlns:a16="http://schemas.microsoft.com/office/drawing/2014/main" id="{F54791D5-1AF2-F0EC-3D54-A060AB229A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0587" y="4390135"/>
            <a:ext cx="547668" cy="189076"/>
          </a:xfrm>
          <a:prstGeom prst="rect">
            <a:avLst/>
          </a:prstGeom>
        </p:spPr>
      </p:pic>
      <p:pic>
        <p:nvPicPr>
          <p:cNvPr id="67" name="그림 66" descr="Dr.palette&#10;&#10;AI 생성 콘텐츠는 정확하지 않을 수 있습니다.">
            <a:extLst>
              <a:ext uri="{FF2B5EF4-FFF2-40B4-BE49-F238E27FC236}">
                <a16:creationId xmlns:a16="http://schemas.microsoft.com/office/drawing/2014/main" id="{E3A14B06-1E03-EC3E-19E1-91A021BACA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76847" y="2648569"/>
            <a:ext cx="498291" cy="138282"/>
          </a:xfrm>
          <a:prstGeom prst="rect">
            <a:avLst/>
          </a:prstGeom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6CF57-673C-C87A-090B-F6199DE0B4D4}"/>
              </a:ext>
            </a:extLst>
          </p:cNvPr>
          <p:cNvSpPr/>
          <p:nvPr/>
        </p:nvSpPr>
        <p:spPr>
          <a:xfrm>
            <a:off x="5661976" y="1708084"/>
            <a:ext cx="868043" cy="349405"/>
          </a:xfrm>
          <a:prstGeom prst="rect">
            <a:avLst/>
          </a:prstGeom>
          <a:solidFill>
            <a:srgbClr val="FFFFCC"/>
          </a:solidFill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Tagging Hub</a:t>
            </a:r>
            <a:endParaRPr lang="ko-KR" altLang="en-US" sz="1050" b="1" dirty="0">
              <a:latin typeface="+mn-ea"/>
            </a:endParaRPr>
          </a:p>
        </p:txBody>
      </p:sp>
      <p:pic>
        <p:nvPicPr>
          <p:cNvPr id="70" name="그림 69" descr="The text provided does not contain an image to describe.&#10;&#10;AI 생성 콘텐츠는 정확하지 않을 수 있습니다.">
            <a:extLst>
              <a:ext uri="{FF2B5EF4-FFF2-40B4-BE49-F238E27FC236}">
                <a16:creationId xmlns:a16="http://schemas.microsoft.com/office/drawing/2014/main" id="{51A82361-0F92-DFEC-EA54-576930301D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9761" y="4585548"/>
            <a:ext cx="537086" cy="131532"/>
          </a:xfrm>
          <a:prstGeom prst="rect">
            <a:avLst/>
          </a:prstGeom>
        </p:spPr>
      </p:pic>
      <p:pic>
        <p:nvPicPr>
          <p:cNvPr id="71" name="그림 70" descr="The text provided does not contain an image to describe.&#10;&#10;AI 생성 콘텐츠는 정확하지 않을 수 있습니다.">
            <a:extLst>
              <a:ext uri="{FF2B5EF4-FFF2-40B4-BE49-F238E27FC236}">
                <a16:creationId xmlns:a16="http://schemas.microsoft.com/office/drawing/2014/main" id="{D1B5DD17-034E-388B-C02E-695E4BD5DDD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4254" y="1726752"/>
            <a:ext cx="563419" cy="137981"/>
          </a:xfrm>
          <a:prstGeom prst="rect">
            <a:avLst/>
          </a:prstGeom>
        </p:spPr>
      </p:pic>
      <p:pic>
        <p:nvPicPr>
          <p:cNvPr id="73" name="그림 72" descr="WELT&#10;&#10;AI 생성 콘텐츠는 정확하지 않을 수 있습니다.">
            <a:extLst>
              <a:ext uri="{FF2B5EF4-FFF2-40B4-BE49-F238E27FC236}">
                <a16:creationId xmlns:a16="http://schemas.microsoft.com/office/drawing/2014/main" id="{361E9209-E53B-2AA4-EC55-D16D97A5461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3933" y="1920933"/>
            <a:ext cx="513956" cy="112557"/>
          </a:xfrm>
          <a:prstGeom prst="rect">
            <a:avLst/>
          </a:prstGeom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1E7A25AB-1204-8D71-6C24-66ADF222502C}"/>
              </a:ext>
            </a:extLst>
          </p:cNvPr>
          <p:cNvSpPr/>
          <p:nvPr/>
        </p:nvSpPr>
        <p:spPr>
          <a:xfrm>
            <a:off x="10134503" y="1708084"/>
            <a:ext cx="920864" cy="349405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Medical OS</a:t>
            </a:r>
            <a:endParaRPr lang="ko-KR" altLang="en-US" sz="1050" b="1" dirty="0">
              <a:latin typeface="+mn-ea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42659C5-ECA1-193C-E635-BD2E2C97165D}"/>
              </a:ext>
            </a:extLst>
          </p:cNvPr>
          <p:cNvSpPr/>
          <p:nvPr/>
        </p:nvSpPr>
        <p:spPr>
          <a:xfrm>
            <a:off x="5661972" y="5282418"/>
            <a:ext cx="868043" cy="7712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PHR</a:t>
            </a:r>
            <a:endParaRPr lang="ko-KR" altLang="en-US" sz="1050" b="1" dirty="0">
              <a:latin typeface="+mn-ea"/>
            </a:endParaRPr>
          </a:p>
        </p:txBody>
      </p:sp>
      <p:pic>
        <p:nvPicPr>
          <p:cNvPr id="83" name="그림 82" descr="S-OMNI&#10;&#10;AI 생성 콘텐츠는 정확하지 않을 수 있습니다.">
            <a:extLst>
              <a:ext uri="{FF2B5EF4-FFF2-40B4-BE49-F238E27FC236}">
                <a16:creationId xmlns:a16="http://schemas.microsoft.com/office/drawing/2014/main" id="{1F122202-F77E-5707-31A4-58F8ABC05C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4504" y="5387377"/>
            <a:ext cx="488207" cy="165201"/>
          </a:xfrm>
          <a:prstGeom prst="rect">
            <a:avLst/>
          </a:prstGeom>
        </p:spPr>
      </p:pic>
      <p:pic>
        <p:nvPicPr>
          <p:cNvPr id="85" name="그림 84" descr="ASLEEP&#10;&#10;AI 생성 콘텐츠는 정확하지 않을 수 있습니다.">
            <a:extLst>
              <a:ext uri="{FF2B5EF4-FFF2-40B4-BE49-F238E27FC236}">
                <a16:creationId xmlns:a16="http://schemas.microsoft.com/office/drawing/2014/main" id="{7858155A-7EBD-AA64-16A4-9CBF01F56F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0587" y="5253239"/>
            <a:ext cx="446414" cy="127468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EE934B6F-CA24-5F5B-A993-CFB42A15B13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7701" y="5557132"/>
            <a:ext cx="424181" cy="140097"/>
          </a:xfrm>
          <a:prstGeom prst="rect">
            <a:avLst/>
          </a:prstGeom>
        </p:spPr>
      </p:pic>
      <p:pic>
        <p:nvPicPr>
          <p:cNvPr id="88" name="그림 87" descr="TESSER.&#10;&#10;AI 생성 콘텐츠는 정확하지 않을 수 있습니다.">
            <a:extLst>
              <a:ext uri="{FF2B5EF4-FFF2-40B4-BE49-F238E27FC236}">
                <a16:creationId xmlns:a16="http://schemas.microsoft.com/office/drawing/2014/main" id="{44B8C9CF-2958-BD44-DE04-5955D61F06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405" y="5557132"/>
            <a:ext cx="563842" cy="13558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A48B6B22-DB6B-C50B-2276-8DB9C857C48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7039" y="5741751"/>
            <a:ext cx="699616" cy="163151"/>
          </a:xfrm>
          <a:prstGeom prst="rect">
            <a:avLst/>
          </a:prstGeom>
        </p:spPr>
      </p:pic>
      <p:pic>
        <p:nvPicPr>
          <p:cNvPr id="93" name="그림 92" descr="Humanescape.&#10;&#10;AI 생성 콘텐츠는 정확하지 않을 수 있습니다.">
            <a:extLst>
              <a:ext uri="{FF2B5EF4-FFF2-40B4-BE49-F238E27FC236}">
                <a16:creationId xmlns:a16="http://schemas.microsoft.com/office/drawing/2014/main" id="{0E62A7F7-DEA3-4F34-47CF-5ADA59FC50F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2851" y="5716623"/>
            <a:ext cx="272674" cy="233993"/>
          </a:xfrm>
          <a:prstGeom prst="rect">
            <a:avLst/>
          </a:prstGeom>
        </p:spPr>
      </p:pic>
      <p:sp>
        <p:nvSpPr>
          <p:cNvPr id="96" name="직사각형 95">
            <a:extLst>
              <a:ext uri="{FF2B5EF4-FFF2-40B4-BE49-F238E27FC236}">
                <a16:creationId xmlns:a16="http://schemas.microsoft.com/office/drawing/2014/main" id="{04116E67-5A7C-5827-7FAB-13AF88DBE483}"/>
              </a:ext>
            </a:extLst>
          </p:cNvPr>
          <p:cNvSpPr/>
          <p:nvPr/>
        </p:nvSpPr>
        <p:spPr>
          <a:xfrm>
            <a:off x="5661972" y="6127706"/>
            <a:ext cx="868043" cy="2828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latin typeface="+mn-ea"/>
              </a:rPr>
              <a:t>약국유통</a:t>
            </a: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A6AFC585-3FA6-12BF-E47C-B555A238194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7405" y="6148863"/>
            <a:ext cx="947949" cy="21694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B9A8A59-AA23-7105-BB21-B89286887A92}"/>
              </a:ext>
            </a:extLst>
          </p:cNvPr>
          <p:cNvSpPr txBox="1"/>
          <p:nvPr/>
        </p:nvSpPr>
        <p:spPr>
          <a:xfrm>
            <a:off x="94273" y="1125358"/>
            <a:ext cx="7320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/>
              <a:t>Wedge Product</a:t>
            </a:r>
            <a:endParaRPr lang="ko-KR" altLang="en-US" sz="1050" dirty="0"/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4CE688A-AC09-84B0-9B12-D049749232A1}"/>
              </a:ext>
            </a:extLst>
          </p:cNvPr>
          <p:cNvCxnSpPr>
            <a:cxnSpLocks/>
          </p:cNvCxnSpPr>
          <p:nvPr/>
        </p:nvCxnSpPr>
        <p:spPr>
          <a:xfrm flipV="1">
            <a:off x="1053878" y="3283853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87967721-5E66-3358-7A5F-312833C111C0}"/>
              </a:ext>
            </a:extLst>
          </p:cNvPr>
          <p:cNvCxnSpPr>
            <a:cxnSpLocks/>
          </p:cNvCxnSpPr>
          <p:nvPr/>
        </p:nvCxnSpPr>
        <p:spPr>
          <a:xfrm flipV="1">
            <a:off x="1042030" y="3768744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FC9AB344-EEB4-F091-5CE4-ABF7E59DBB6F}"/>
              </a:ext>
            </a:extLst>
          </p:cNvPr>
          <p:cNvCxnSpPr>
            <a:cxnSpLocks/>
          </p:cNvCxnSpPr>
          <p:nvPr/>
        </p:nvCxnSpPr>
        <p:spPr>
          <a:xfrm flipV="1">
            <a:off x="1042030" y="4240522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79260194-52D0-E44E-3CB3-129C34024E95}"/>
              </a:ext>
            </a:extLst>
          </p:cNvPr>
          <p:cNvCxnSpPr>
            <a:cxnSpLocks/>
          </p:cNvCxnSpPr>
          <p:nvPr/>
        </p:nvCxnSpPr>
        <p:spPr>
          <a:xfrm flipV="1">
            <a:off x="1053878" y="4719334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06EAE6E-88AE-D691-0BD4-BC0F04FCAB24}"/>
              </a:ext>
            </a:extLst>
          </p:cNvPr>
          <p:cNvCxnSpPr>
            <a:cxnSpLocks/>
          </p:cNvCxnSpPr>
          <p:nvPr/>
        </p:nvCxnSpPr>
        <p:spPr>
          <a:xfrm flipV="1">
            <a:off x="1042030" y="5195733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D00BB86-F9A1-9B5B-8EF8-8BBF57E74E18}"/>
              </a:ext>
            </a:extLst>
          </p:cNvPr>
          <p:cNvCxnSpPr>
            <a:cxnSpLocks/>
          </p:cNvCxnSpPr>
          <p:nvPr/>
        </p:nvCxnSpPr>
        <p:spPr>
          <a:xfrm flipV="1">
            <a:off x="1042030" y="6057293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8D2C0CE3-6888-6A60-EC02-FD783FABB454}"/>
              </a:ext>
            </a:extLst>
          </p:cNvPr>
          <p:cNvCxnSpPr>
            <a:cxnSpLocks/>
          </p:cNvCxnSpPr>
          <p:nvPr/>
        </p:nvCxnSpPr>
        <p:spPr>
          <a:xfrm flipV="1">
            <a:off x="1042030" y="6413260"/>
            <a:ext cx="10099040" cy="108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2" name="그림 121" descr="Humanescape.&#10;&#10;AI 생성 콘텐츠는 정확하지 않을 수 있습니다.">
            <a:extLst>
              <a:ext uri="{FF2B5EF4-FFF2-40B4-BE49-F238E27FC236}">
                <a16:creationId xmlns:a16="http://schemas.microsoft.com/office/drawing/2014/main" id="{80CA32E7-2338-8787-423E-C0F7D8D24C5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51249" y="5769080"/>
            <a:ext cx="272674" cy="233993"/>
          </a:xfrm>
          <a:prstGeom prst="rect">
            <a:avLst/>
          </a:prstGeom>
        </p:spPr>
      </p:pic>
      <p:pic>
        <p:nvPicPr>
          <p:cNvPr id="124" name="그림 123" descr="Momitalk&#10;&#10;AI 생성 콘텐츠는 정확하지 않을 수 있습니다.">
            <a:extLst>
              <a:ext uri="{FF2B5EF4-FFF2-40B4-BE49-F238E27FC236}">
                <a16:creationId xmlns:a16="http://schemas.microsoft.com/office/drawing/2014/main" id="{40617261-A45E-9F61-5F0D-A22112645A4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56971" y="5750992"/>
            <a:ext cx="698831" cy="243413"/>
          </a:xfrm>
          <a:prstGeom prst="rect">
            <a:avLst/>
          </a:prstGeom>
        </p:spPr>
      </p:pic>
      <p:pic>
        <p:nvPicPr>
          <p:cNvPr id="126" name="그림 125" descr="GC&#10;&#10;AI 생성 콘텐츠는 정확하지 않을 수 있습니다.">
            <a:extLst>
              <a:ext uri="{FF2B5EF4-FFF2-40B4-BE49-F238E27FC236}">
                <a16:creationId xmlns:a16="http://schemas.microsoft.com/office/drawing/2014/main" id="{5B79E874-35FA-127B-CE75-5CEE799686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20093" y="2436358"/>
            <a:ext cx="826165" cy="162860"/>
          </a:xfrm>
          <a:prstGeom prst="rect">
            <a:avLst/>
          </a:prstGeom>
        </p:spPr>
      </p:pic>
      <p:pic>
        <p:nvPicPr>
          <p:cNvPr id="128" name="그림 127" descr="Doctor&#10;&#10;AI 생성 콘텐츠는 정확하지 않을 수 있습니다.">
            <a:extLst>
              <a:ext uri="{FF2B5EF4-FFF2-40B4-BE49-F238E27FC236}">
                <a16:creationId xmlns:a16="http://schemas.microsoft.com/office/drawing/2014/main" id="{F5677F59-A0C5-95F5-C416-7062038E07C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00397" y="2454400"/>
            <a:ext cx="361310" cy="127908"/>
          </a:xfrm>
          <a:prstGeom prst="rect">
            <a:avLst/>
          </a:prstGeom>
        </p:spPr>
      </p:pic>
      <p:pic>
        <p:nvPicPr>
          <p:cNvPr id="129" name="그림 128" descr="ATOMERICE&#10;&#10;AI 생성 콘텐츠는 정확하지 않을 수 있습니다.">
            <a:extLst>
              <a:ext uri="{FF2B5EF4-FFF2-40B4-BE49-F238E27FC236}">
                <a16:creationId xmlns:a16="http://schemas.microsoft.com/office/drawing/2014/main" id="{34BC45AF-5651-18FC-1D57-924467F440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1115" y="4008651"/>
            <a:ext cx="793631" cy="127767"/>
          </a:xfrm>
          <a:prstGeom prst="rect">
            <a:avLst/>
          </a:prstGeom>
        </p:spPr>
      </p:pic>
      <p:pic>
        <p:nvPicPr>
          <p:cNvPr id="130" name="그림 129" descr="MiNDCAFE.&#10;&#10;AI 생성 콘텐츠는 정확하지 않을 수 있습니다.">
            <a:extLst>
              <a:ext uri="{FF2B5EF4-FFF2-40B4-BE49-F238E27FC236}">
                <a16:creationId xmlns:a16="http://schemas.microsoft.com/office/drawing/2014/main" id="{F769AC73-884D-0AFD-CA34-E127FAE7A0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0071" y="4011359"/>
            <a:ext cx="699616" cy="122349"/>
          </a:xfrm>
          <a:prstGeom prst="rect">
            <a:avLst/>
          </a:prstGeom>
        </p:spPr>
      </p:pic>
      <p:pic>
        <p:nvPicPr>
          <p:cNvPr id="132" name="그림 131" descr="GC&#10;&#10;AI 생성 콘텐츠는 정확하지 않을 수 있습니다.">
            <a:extLst>
              <a:ext uri="{FF2B5EF4-FFF2-40B4-BE49-F238E27FC236}">
                <a16:creationId xmlns:a16="http://schemas.microsoft.com/office/drawing/2014/main" id="{305F54AB-2E2D-4B4C-2CDA-A83CB21AF02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71115" y="3336214"/>
            <a:ext cx="693139" cy="192280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3E959938-8DBC-0404-48DE-2C4654BFBD7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85637" y="3481763"/>
            <a:ext cx="1127797" cy="138501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9CD8BF0-2A35-190F-8EEB-BCD8461E1CA0}"/>
              </a:ext>
            </a:extLst>
          </p:cNvPr>
          <p:cNvSpPr/>
          <p:nvPr/>
        </p:nvSpPr>
        <p:spPr>
          <a:xfrm>
            <a:off x="5661972" y="6534919"/>
            <a:ext cx="868043" cy="2828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+mn-ea"/>
              </a:rPr>
              <a:t>O2O</a:t>
            </a:r>
            <a:endParaRPr lang="ko-KR" altLang="en-US" sz="1050" b="1" dirty="0">
              <a:latin typeface="+mn-ea"/>
            </a:endParaRPr>
          </a:p>
        </p:txBody>
      </p:sp>
      <p:pic>
        <p:nvPicPr>
          <p:cNvPr id="137" name="그림 136" descr="GC&#10;&#10;AI 생성 콘텐츠는 정확하지 않을 수 있습니다.">
            <a:extLst>
              <a:ext uri="{FF2B5EF4-FFF2-40B4-BE49-F238E27FC236}">
                <a16:creationId xmlns:a16="http://schemas.microsoft.com/office/drawing/2014/main" id="{29A28003-745A-62E4-D6D5-8C086236896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93107" y="4454968"/>
            <a:ext cx="793631" cy="156447"/>
          </a:xfrm>
          <a:prstGeom prst="rect">
            <a:avLst/>
          </a:prstGeom>
        </p:spPr>
      </p:pic>
      <p:pic>
        <p:nvPicPr>
          <p:cNvPr id="138" name="그림 137" descr="Doctor&#10;&#10;AI 생성 콘텐츠는 정확하지 않을 수 있습니다.">
            <a:extLst>
              <a:ext uri="{FF2B5EF4-FFF2-40B4-BE49-F238E27FC236}">
                <a16:creationId xmlns:a16="http://schemas.microsoft.com/office/drawing/2014/main" id="{5FA695A6-8689-2C87-ECCB-85A09DB5C03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46262" y="4469081"/>
            <a:ext cx="415445" cy="147073"/>
          </a:xfrm>
          <a:prstGeom prst="rect">
            <a:avLst/>
          </a:prstGeom>
        </p:spPr>
      </p:pic>
      <p:pic>
        <p:nvPicPr>
          <p:cNvPr id="3" name="그림 2" descr="Upharm&#10;&#10;AI 생성 콘텐츠는 정확하지 않을 수 있습니다.">
            <a:extLst>
              <a:ext uri="{FF2B5EF4-FFF2-40B4-BE49-F238E27FC236}">
                <a16:creationId xmlns:a16="http://schemas.microsoft.com/office/drawing/2014/main" id="{82156ADF-1EFD-9733-39B0-45E5070593E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89138" y="6142944"/>
            <a:ext cx="699616" cy="197823"/>
          </a:xfrm>
          <a:prstGeom prst="rect">
            <a:avLst/>
          </a:prstGeom>
        </p:spPr>
      </p:pic>
      <p:pic>
        <p:nvPicPr>
          <p:cNvPr id="10" name="그림 9" descr="Cefy&#10;&#10;AI 생성 콘텐츠는 정확하지 않을 수 있습니다.">
            <a:extLst>
              <a:ext uri="{FF2B5EF4-FFF2-40B4-BE49-F238E27FC236}">
                <a16:creationId xmlns:a16="http://schemas.microsoft.com/office/drawing/2014/main" id="{C6036097-AAD9-35CE-0296-CD11F790762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70982" y="3360451"/>
            <a:ext cx="590725" cy="136450"/>
          </a:xfrm>
          <a:prstGeom prst="rect">
            <a:avLst/>
          </a:prstGeom>
        </p:spPr>
      </p:pic>
      <p:pic>
        <p:nvPicPr>
          <p:cNvPr id="12" name="그림 11" descr="sellqu&#10;&#10;AI 생성 콘텐츠는 정확하지 않을 수 있습니다.">
            <a:extLst>
              <a:ext uri="{FF2B5EF4-FFF2-40B4-BE49-F238E27FC236}">
                <a16:creationId xmlns:a16="http://schemas.microsoft.com/office/drawing/2014/main" id="{A699F160-828C-7CC1-564F-3E6E550223A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32957" y="1129914"/>
            <a:ext cx="714419" cy="230250"/>
          </a:xfrm>
          <a:prstGeom prst="rect">
            <a:avLst/>
          </a:prstGeom>
        </p:spPr>
      </p:pic>
      <p:pic>
        <p:nvPicPr>
          <p:cNvPr id="16" name="그림 15" descr="Glue.&#10;&#10;AI 생성 콘텐츠는 정확하지 않을 수 있습니다.">
            <a:extLst>
              <a:ext uri="{FF2B5EF4-FFF2-40B4-BE49-F238E27FC236}">
                <a16:creationId xmlns:a16="http://schemas.microsoft.com/office/drawing/2014/main" id="{132C100D-B40F-B26F-2079-F9557C8019C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59467" y="1140569"/>
            <a:ext cx="487862" cy="215390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98CC18A-3C7C-E9D7-F8DF-D210D7473057}"/>
              </a:ext>
            </a:extLst>
          </p:cNvPr>
          <p:cNvCxnSpPr>
            <a:cxnSpLocks/>
          </p:cNvCxnSpPr>
          <p:nvPr/>
        </p:nvCxnSpPr>
        <p:spPr>
          <a:xfrm>
            <a:off x="972250" y="1484244"/>
            <a:ext cx="1039743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precise.&#10;&#10;AI 생성 콘텐츠는 정확하지 않을 수 있습니다.">
            <a:extLst>
              <a:ext uri="{FF2B5EF4-FFF2-40B4-BE49-F238E27FC236}">
                <a16:creationId xmlns:a16="http://schemas.microsoft.com/office/drawing/2014/main" id="{B4EEF6FF-C48F-9D74-13A4-698DDC367C8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71115" y="6507249"/>
            <a:ext cx="593157" cy="285083"/>
          </a:xfrm>
          <a:prstGeom prst="rect">
            <a:avLst/>
          </a:prstGeom>
        </p:spPr>
      </p:pic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8B19BCF5-3D1C-4535-B67D-808CE2321AB3}"/>
              </a:ext>
            </a:extLst>
          </p:cNvPr>
          <p:cNvSpPr/>
          <p:nvPr/>
        </p:nvSpPr>
        <p:spPr>
          <a:xfrm rot="16200000">
            <a:off x="7791786" y="2503927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C045A9C-BA77-A932-C71A-C2F2463A3762}"/>
              </a:ext>
            </a:extLst>
          </p:cNvPr>
          <p:cNvSpPr/>
          <p:nvPr/>
        </p:nvSpPr>
        <p:spPr>
          <a:xfrm rot="16200000">
            <a:off x="9009483" y="3517041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09EE9957-D348-F4F4-7A10-B424E49D8224}"/>
              </a:ext>
            </a:extLst>
          </p:cNvPr>
          <p:cNvSpPr/>
          <p:nvPr/>
        </p:nvSpPr>
        <p:spPr>
          <a:xfrm rot="16200000">
            <a:off x="8132925" y="3956259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CF4C64D8-B225-89D5-61B3-FDAC92CE76EC}"/>
              </a:ext>
            </a:extLst>
          </p:cNvPr>
          <p:cNvSpPr/>
          <p:nvPr/>
        </p:nvSpPr>
        <p:spPr>
          <a:xfrm rot="16200000">
            <a:off x="7131000" y="4133836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D44FFEF6-F61F-EA23-8815-E419AC8200F6}"/>
              </a:ext>
            </a:extLst>
          </p:cNvPr>
          <p:cNvSpPr/>
          <p:nvPr/>
        </p:nvSpPr>
        <p:spPr>
          <a:xfrm rot="16200000">
            <a:off x="7307059" y="4957435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931330CA-DA14-1D2D-515B-00DFFD3DD3FF}"/>
              </a:ext>
            </a:extLst>
          </p:cNvPr>
          <p:cNvSpPr/>
          <p:nvPr/>
        </p:nvSpPr>
        <p:spPr>
          <a:xfrm rot="16200000">
            <a:off x="7156932" y="5295257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7C078207-B8AC-90AB-1406-6EFECCF9E593}"/>
              </a:ext>
            </a:extLst>
          </p:cNvPr>
          <p:cNvSpPr/>
          <p:nvPr/>
        </p:nvSpPr>
        <p:spPr>
          <a:xfrm rot="16200000">
            <a:off x="7156538" y="5456257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E883BEBD-3034-9BDA-4889-24C0740B558A}"/>
              </a:ext>
            </a:extLst>
          </p:cNvPr>
          <p:cNvSpPr/>
          <p:nvPr/>
        </p:nvSpPr>
        <p:spPr>
          <a:xfrm rot="16200000">
            <a:off x="7608605" y="5608850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6C84598A-41DD-1A67-3D98-5E69676DEF25}"/>
              </a:ext>
            </a:extLst>
          </p:cNvPr>
          <p:cNvSpPr/>
          <p:nvPr/>
        </p:nvSpPr>
        <p:spPr>
          <a:xfrm rot="16200000">
            <a:off x="8819455" y="6022679"/>
            <a:ext cx="86139" cy="46927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ED07A6C-585C-2215-3B2B-473A4AF198B3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595997" y="5912362"/>
            <a:ext cx="738457" cy="289862"/>
          </a:xfrm>
          <a:prstGeom prst="rect">
            <a:avLst/>
          </a:prstGeom>
        </p:spPr>
      </p:pic>
      <p:pic>
        <p:nvPicPr>
          <p:cNvPr id="55" name="그림 54" descr="The text provided does not contain an image, so I am unable to describe an image. If you have an image you would like me to describe, please provide it.&#10;&#10;AI 생성 콘텐츠는 정확하지 않을 수 있습니다.">
            <a:extLst>
              <a:ext uri="{FF2B5EF4-FFF2-40B4-BE49-F238E27FC236}">
                <a16:creationId xmlns:a16="http://schemas.microsoft.com/office/drawing/2014/main" id="{25DB355D-2976-1896-3133-9283CC68CB6D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1156" y="5968958"/>
            <a:ext cx="447024" cy="142982"/>
          </a:xfrm>
          <a:prstGeom prst="rect">
            <a:avLst/>
          </a:prstGeom>
        </p:spPr>
      </p:pic>
      <p:pic>
        <p:nvPicPr>
          <p:cNvPr id="57" name="그림 56" descr="GC&#10;&#10;AI 생성 콘텐츠는 정확하지 않을 수 있습니다.">
            <a:extLst>
              <a:ext uri="{FF2B5EF4-FFF2-40B4-BE49-F238E27FC236}">
                <a16:creationId xmlns:a16="http://schemas.microsoft.com/office/drawing/2014/main" id="{51BCE185-4AF5-7F4D-7A4B-8D424B272D8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06850" y="1824086"/>
            <a:ext cx="628581" cy="123911"/>
          </a:xfrm>
          <a:prstGeom prst="rect">
            <a:avLst/>
          </a:prstGeom>
        </p:spPr>
      </p:pic>
      <p:pic>
        <p:nvPicPr>
          <p:cNvPr id="61" name="그림 60" descr="GC&#10;&#10;AI 생성 콘텐츠는 정확하지 않을 수 있습니다.">
            <a:extLst>
              <a:ext uri="{FF2B5EF4-FFF2-40B4-BE49-F238E27FC236}">
                <a16:creationId xmlns:a16="http://schemas.microsoft.com/office/drawing/2014/main" id="{DFD3C51E-4AAF-1E76-D2A6-4BA99F42332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871115" y="3545512"/>
            <a:ext cx="1158538" cy="214768"/>
          </a:xfrm>
          <a:prstGeom prst="rect">
            <a:avLst/>
          </a:prstGeom>
        </p:spPr>
      </p:pic>
      <p:pic>
        <p:nvPicPr>
          <p:cNvPr id="69" name="그림 68" descr="iKOB&#10;&#10;AI 생성 콘텐츠는 정확하지 않을 수 있습니다.">
            <a:extLst>
              <a:ext uri="{FF2B5EF4-FFF2-40B4-BE49-F238E27FC236}">
                <a16:creationId xmlns:a16="http://schemas.microsoft.com/office/drawing/2014/main" id="{1ACB2864-A0ED-FF2C-FE2D-045BA28E689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871536" y="5363214"/>
            <a:ext cx="570870" cy="285435"/>
          </a:xfrm>
          <a:prstGeom prst="rect">
            <a:avLst/>
          </a:prstGeom>
        </p:spPr>
      </p:pic>
      <p:pic>
        <p:nvPicPr>
          <p:cNvPr id="74" name="그림 73" descr="VICE&#10;&#10;AI 생성 콘텐츠는 정확하지 않을 수 있습니다.">
            <a:extLst>
              <a:ext uri="{FF2B5EF4-FFF2-40B4-BE49-F238E27FC236}">
                <a16:creationId xmlns:a16="http://schemas.microsoft.com/office/drawing/2014/main" id="{9F080C2D-8EE5-E40E-526D-0E6EFC782A8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466764" y="5320637"/>
            <a:ext cx="355594" cy="326447"/>
          </a:xfrm>
          <a:prstGeom prst="rect">
            <a:avLst/>
          </a:prstGeom>
        </p:spPr>
      </p:pic>
      <p:pic>
        <p:nvPicPr>
          <p:cNvPr id="77" name="그림 76" descr="JECTON PROJECT.&#10;&#10;AI 생성 콘텐츠는 정확하지 않을 수 있습니다.">
            <a:extLst>
              <a:ext uri="{FF2B5EF4-FFF2-40B4-BE49-F238E27FC236}">
                <a16:creationId xmlns:a16="http://schemas.microsoft.com/office/drawing/2014/main" id="{2329C292-AD05-280D-FC95-F15E39860CF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27925" y="2595263"/>
            <a:ext cx="627877" cy="207318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ABC1D8BD-4157-36A1-231C-BF2C2A220210}"/>
              </a:ext>
            </a:extLst>
          </p:cNvPr>
          <p:cNvSpPr/>
          <p:nvPr/>
        </p:nvSpPr>
        <p:spPr>
          <a:xfrm>
            <a:off x="1007727" y="1713323"/>
            <a:ext cx="1140920" cy="349405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latin typeface="+mn-ea"/>
              </a:rPr>
              <a:t>통합 환자 관리 </a:t>
            </a:r>
            <a:r>
              <a:rPr lang="en-US" altLang="ko-KR" sz="900" b="1" dirty="0">
                <a:latin typeface="+mn-ea"/>
              </a:rPr>
              <a:t>AI </a:t>
            </a:r>
            <a:r>
              <a:rPr lang="ko-KR" altLang="en-US" sz="900" b="1" dirty="0">
                <a:latin typeface="+mn-ea"/>
              </a:rPr>
              <a:t>플랫폼 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 err="1">
                <a:latin typeface="+mn-ea"/>
              </a:rPr>
              <a:t>올뉴씽크</a:t>
            </a:r>
            <a:r>
              <a:rPr lang="en-US" altLang="ko-KR" sz="900" b="1" dirty="0">
                <a:latin typeface="+mn-ea"/>
              </a:rPr>
              <a:t>)</a:t>
            </a:r>
            <a:endParaRPr lang="ko-KR" altLang="en-US" sz="900" b="1" dirty="0">
              <a:latin typeface="+mn-ea"/>
            </a:endParaRPr>
          </a:p>
        </p:txBody>
      </p:sp>
      <p:pic>
        <p:nvPicPr>
          <p:cNvPr id="86" name="그림 85" descr="thynC TM&#10;&#10;AI 생성 콘텐츠는 정확하지 않을 수 있습니다.">
            <a:extLst>
              <a:ext uri="{FF2B5EF4-FFF2-40B4-BE49-F238E27FC236}">
                <a16:creationId xmlns:a16="http://schemas.microsoft.com/office/drawing/2014/main" id="{FBB3C6E7-6AFA-C8CE-17C1-0FD6D7693FDA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42030" y="1100921"/>
            <a:ext cx="462616" cy="1396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D543EE0E-43F8-C26E-A2E2-EEA9DC578C8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28491" y="1057384"/>
            <a:ext cx="346420" cy="167437"/>
          </a:xfrm>
          <a:prstGeom prst="rect">
            <a:avLst/>
          </a:prstGeom>
        </p:spPr>
      </p:pic>
      <p:pic>
        <p:nvPicPr>
          <p:cNvPr id="94" name="그림 93" descr="mobiCARETM&#10;&#10;AI 생성 콘텐츠는 정확하지 않을 수 있습니다.">
            <a:extLst>
              <a:ext uri="{FF2B5EF4-FFF2-40B4-BE49-F238E27FC236}">
                <a16:creationId xmlns:a16="http://schemas.microsoft.com/office/drawing/2014/main" id="{5CF901BF-E260-FC63-6B9A-90D060E5D342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78187" y="1086159"/>
            <a:ext cx="811174" cy="136567"/>
          </a:xfrm>
          <a:prstGeom prst="rect">
            <a:avLst/>
          </a:prstGeom>
        </p:spPr>
      </p:pic>
      <p:pic>
        <p:nvPicPr>
          <p:cNvPr id="101" name="그림 100" descr="WISKY&#10;&#10;AI 생성 콘텐츠는 정확하지 않을 수 있습니다.">
            <a:extLst>
              <a:ext uri="{FF2B5EF4-FFF2-40B4-BE49-F238E27FC236}">
                <a16:creationId xmlns:a16="http://schemas.microsoft.com/office/drawing/2014/main" id="{4876B54E-9E19-2CF9-B245-9506896C98C7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54459" y="1294378"/>
            <a:ext cx="368420" cy="143275"/>
          </a:xfrm>
          <a:prstGeom prst="rect">
            <a:avLst/>
          </a:prstGeom>
        </p:spPr>
      </p:pic>
      <p:pic>
        <p:nvPicPr>
          <p:cNvPr id="102" name="그림 101" descr="￬ﾛﾰ￬ﾲﾴ￭ﾁﾬ&#10;&#10;AI 생성 콘텐츠는 정확하지 않을 수 있습니다.">
            <a:extLst>
              <a:ext uri="{FF2B5EF4-FFF2-40B4-BE49-F238E27FC236}">
                <a16:creationId xmlns:a16="http://schemas.microsoft.com/office/drawing/2014/main" id="{E24955DB-E7A2-CF78-CEEB-9CE4D21EBF15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46473" y="2969120"/>
            <a:ext cx="634601" cy="22228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68102000-4FF6-B4BB-FAC3-A755A0A302B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45694" y="3481763"/>
            <a:ext cx="1127797" cy="138501"/>
          </a:xfrm>
          <a:prstGeom prst="rect">
            <a:avLst/>
          </a:prstGeom>
        </p:spPr>
      </p:pic>
      <p:pic>
        <p:nvPicPr>
          <p:cNvPr id="106" name="그림 105" descr="mobiCARETM&#10;&#10;AI 생성 콘텐츠는 정확하지 않을 수 있습니다.">
            <a:extLst>
              <a:ext uri="{FF2B5EF4-FFF2-40B4-BE49-F238E27FC236}">
                <a16:creationId xmlns:a16="http://schemas.microsoft.com/office/drawing/2014/main" id="{597FE73E-F570-3F9B-AA57-D56F1D579A4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38158" y="3474029"/>
            <a:ext cx="811174" cy="136567"/>
          </a:xfrm>
          <a:prstGeom prst="rect">
            <a:avLst/>
          </a:prstGeom>
        </p:spPr>
      </p:pic>
      <p:pic>
        <p:nvPicPr>
          <p:cNvPr id="108" name="그림 107" descr="Seers&#10;&#10;AI 생성 콘텐츠는 정확하지 않을 수 있습니다.">
            <a:extLst>
              <a:ext uri="{FF2B5EF4-FFF2-40B4-BE49-F238E27FC236}">
                <a16:creationId xmlns:a16="http://schemas.microsoft.com/office/drawing/2014/main" id="{4D900AE9-059A-2454-9B8C-909FCDF6BAC1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78011" y="3460476"/>
            <a:ext cx="531714" cy="177238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E38C9163-7F0D-FEEA-BD26-A3D0D530EA27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53878" y="4868303"/>
            <a:ext cx="911616" cy="194684"/>
          </a:xfrm>
          <a:prstGeom prst="rect">
            <a:avLst/>
          </a:prstGeom>
        </p:spPr>
      </p:pic>
      <p:pic>
        <p:nvPicPr>
          <p:cNvPr id="113" name="그림 112" descr="Daeung Hulk Hekkae,&#10;&#10;AI 생성 콘텐츠는 정확하지 않을 수 있습니다.">
            <a:extLst>
              <a:ext uri="{FF2B5EF4-FFF2-40B4-BE49-F238E27FC236}">
                <a16:creationId xmlns:a16="http://schemas.microsoft.com/office/drawing/2014/main" id="{203B6CD4-5CD5-40AD-9830-3CF560D6AB1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82893" y="3977181"/>
            <a:ext cx="778978" cy="124557"/>
          </a:xfrm>
          <a:prstGeom prst="rect">
            <a:avLst/>
          </a:prstGeom>
        </p:spPr>
      </p:pic>
      <p:pic>
        <p:nvPicPr>
          <p:cNvPr id="127" name="그림 126" descr="puzzle&#10;&#10;AI 생성 콘텐츠는 정확하지 않을 수 있습니다.">
            <a:extLst>
              <a:ext uri="{FF2B5EF4-FFF2-40B4-BE49-F238E27FC236}">
                <a16:creationId xmlns:a16="http://schemas.microsoft.com/office/drawing/2014/main" id="{0D20D412-B794-1AA2-C1DC-3F01925FFD4B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38113" y="1271876"/>
            <a:ext cx="675503" cy="161441"/>
          </a:xfrm>
          <a:prstGeom prst="rect">
            <a:avLst/>
          </a:prstGeom>
        </p:spPr>
      </p:pic>
      <p:pic>
        <p:nvPicPr>
          <p:cNvPr id="131" name="그림 130" descr="Humanescape.&#10;&#10;AI 생성 콘텐츠는 정확하지 않을 수 있습니다.">
            <a:extLst>
              <a:ext uri="{FF2B5EF4-FFF2-40B4-BE49-F238E27FC236}">
                <a16:creationId xmlns:a16="http://schemas.microsoft.com/office/drawing/2014/main" id="{9E12E55F-DFFA-2DA3-EB69-08E745B599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8360" y="5782524"/>
            <a:ext cx="272674" cy="233993"/>
          </a:xfrm>
          <a:prstGeom prst="rect">
            <a:avLst/>
          </a:prstGeom>
        </p:spPr>
      </p:pic>
      <p:pic>
        <p:nvPicPr>
          <p:cNvPr id="133" name="그림 132" descr="Momitalk&#10;&#10;AI 생성 콘텐츠는 정확하지 않을 수 있습니다.">
            <a:extLst>
              <a:ext uri="{FF2B5EF4-FFF2-40B4-BE49-F238E27FC236}">
                <a16:creationId xmlns:a16="http://schemas.microsoft.com/office/drawing/2014/main" id="{7A500482-29E9-FCA3-3809-58872AC29BA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44082" y="5764436"/>
            <a:ext cx="698831" cy="243413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9C262087-9290-00AF-F265-C7C9508888D7}"/>
              </a:ext>
            </a:extLst>
          </p:cNvPr>
          <p:cNvSpPr txBox="1"/>
          <p:nvPr/>
        </p:nvSpPr>
        <p:spPr>
          <a:xfrm>
            <a:off x="7167673" y="4412745"/>
            <a:ext cx="697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환자 대상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5DFFF9C-1D2A-8A93-593D-3934CDAA69A8}"/>
              </a:ext>
            </a:extLst>
          </p:cNvPr>
          <p:cNvSpPr txBox="1"/>
          <p:nvPr/>
        </p:nvSpPr>
        <p:spPr>
          <a:xfrm>
            <a:off x="11145513" y="4426343"/>
            <a:ext cx="79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의료진 대상</a:t>
            </a:r>
          </a:p>
        </p:txBody>
      </p:sp>
      <p:pic>
        <p:nvPicPr>
          <p:cNvPr id="141" name="그림 140" descr="Libre.&#10;&#10;AI 생성 콘텐츠는 정확하지 않을 수 있습니다.">
            <a:extLst>
              <a:ext uri="{FF2B5EF4-FFF2-40B4-BE49-F238E27FC236}">
                <a16:creationId xmlns:a16="http://schemas.microsoft.com/office/drawing/2014/main" id="{BB60B2C3-6643-0838-4852-2DC36797C38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531946" y="1219962"/>
            <a:ext cx="522405" cy="191051"/>
          </a:xfrm>
          <a:prstGeom prst="rect">
            <a:avLst/>
          </a:prstGeom>
        </p:spPr>
      </p:pic>
      <p:pic>
        <p:nvPicPr>
          <p:cNvPr id="143" name="그림 142" descr="Fit&#10;&#10;AI 생성 콘텐츠는 정확하지 않을 수 있습니다.">
            <a:extLst>
              <a:ext uri="{FF2B5EF4-FFF2-40B4-BE49-F238E27FC236}">
                <a16:creationId xmlns:a16="http://schemas.microsoft.com/office/drawing/2014/main" id="{078EB7F5-BBA7-C665-BDEE-7C0FD4D7B371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436980" y="1096031"/>
            <a:ext cx="823253" cy="246689"/>
          </a:xfrm>
          <a:prstGeom prst="rect">
            <a:avLst/>
          </a:prstGeom>
        </p:spPr>
      </p:pic>
      <p:pic>
        <p:nvPicPr>
          <p:cNvPr id="146" name="그림 145" descr="Seers&#10;&#10;AI 생성 콘텐츠는 정확하지 않을 수 있습니다.">
            <a:extLst>
              <a:ext uri="{FF2B5EF4-FFF2-40B4-BE49-F238E27FC236}">
                <a16:creationId xmlns:a16="http://schemas.microsoft.com/office/drawing/2014/main" id="{6DBBBA54-F511-116B-0533-8973CC8CF9BC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218059" y="1713323"/>
            <a:ext cx="477087" cy="142448"/>
          </a:xfrm>
          <a:prstGeom prst="rect">
            <a:avLst/>
          </a:prstGeom>
        </p:spPr>
      </p:pic>
      <p:pic>
        <p:nvPicPr>
          <p:cNvPr id="148" name="그림 147" descr="m circie&#10;&#10;AI 생성 콘텐츠는 정확하지 않을 수 있습니다.">
            <a:extLst>
              <a:ext uri="{FF2B5EF4-FFF2-40B4-BE49-F238E27FC236}">
                <a16:creationId xmlns:a16="http://schemas.microsoft.com/office/drawing/2014/main" id="{76173174-CF17-5FF5-7566-2CC0F7E55C10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237094" y="1875936"/>
            <a:ext cx="588653" cy="160999"/>
          </a:xfrm>
          <a:prstGeom prst="rect">
            <a:avLst/>
          </a:prstGeom>
        </p:spPr>
      </p:pic>
      <p:pic>
        <p:nvPicPr>
          <p:cNvPr id="151" name="그림 150" descr="WELLDA.&#10;&#10;AI 생성 콘텐츠는 정확하지 않을 수 있습니다.">
            <a:extLst>
              <a:ext uri="{FF2B5EF4-FFF2-40B4-BE49-F238E27FC236}">
                <a16:creationId xmlns:a16="http://schemas.microsoft.com/office/drawing/2014/main" id="{34762DF8-1CF5-525B-6704-78A20D6ABB6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53878" y="5500103"/>
            <a:ext cx="732385" cy="226265"/>
          </a:xfrm>
          <a:prstGeom prst="rect">
            <a:avLst/>
          </a:prstGeom>
        </p:spPr>
      </p:pic>
      <p:pic>
        <p:nvPicPr>
          <p:cNvPr id="152" name="그림 151" descr="￬ﾛﾰ￬ﾲﾴ￭ﾁﾬ&#10;&#10;AI 생성 콘텐츠는 정확하지 않을 수 있습니다.">
            <a:extLst>
              <a:ext uri="{FF2B5EF4-FFF2-40B4-BE49-F238E27FC236}">
                <a16:creationId xmlns:a16="http://schemas.microsoft.com/office/drawing/2014/main" id="{3EA2D4D2-2A4E-48E4-DB2C-17001F2BEC8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30427" y="5250536"/>
            <a:ext cx="703546" cy="246439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BD9164DD-71F7-3F4D-CD81-360B06490C85}"/>
              </a:ext>
            </a:extLst>
          </p:cNvPr>
          <p:cNvSpPr txBox="1"/>
          <p:nvPr/>
        </p:nvSpPr>
        <p:spPr>
          <a:xfrm>
            <a:off x="1684858" y="2967075"/>
            <a:ext cx="79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(minor)</a:t>
            </a:r>
            <a:endParaRPr lang="ko-KR" altLang="en-US" sz="8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D8557C8-BAD1-E823-7FF9-B7392A745F6C}"/>
              </a:ext>
            </a:extLst>
          </p:cNvPr>
          <p:cNvSpPr txBox="1"/>
          <p:nvPr/>
        </p:nvSpPr>
        <p:spPr>
          <a:xfrm>
            <a:off x="94273" y="1743066"/>
            <a:ext cx="732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/>
              <a:t>Vision</a:t>
            </a:r>
            <a:endParaRPr lang="ko-KR" altLang="en-US" sz="1050" b="1" dirty="0"/>
          </a:p>
        </p:txBody>
      </p:sp>
      <p:pic>
        <p:nvPicPr>
          <p:cNvPr id="155" name="그림 154" descr="GC&#10;&#10;AI 생성 콘텐츠는 정확하지 않을 수 있습니다.">
            <a:extLst>
              <a:ext uri="{FF2B5EF4-FFF2-40B4-BE49-F238E27FC236}">
                <a16:creationId xmlns:a16="http://schemas.microsoft.com/office/drawing/2014/main" id="{53007FE4-4749-D3F7-BBC2-04F50816277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71115" y="6183718"/>
            <a:ext cx="746880" cy="14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67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56</Words>
  <Application>Microsoft Office PowerPoint</Application>
  <PresentationFormat>와이드스크린</PresentationFormat>
  <Paragraphs>21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SEUNGKI MIN</dc:creator>
  <cp:lastModifiedBy>SEUNGKI MIN</cp:lastModifiedBy>
  <cp:revision>14</cp:revision>
  <dcterms:created xsi:type="dcterms:W3CDTF">2026-03-29T04:14:57Z</dcterms:created>
  <dcterms:modified xsi:type="dcterms:W3CDTF">2026-03-29T14:13:26Z</dcterms:modified>
</cp:coreProperties>
</file>